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1_img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0"/>
            <a:ext cx="12207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219456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1828800"/>
            <a:ext cx="8686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210"/>
              </a:lnSpc>
              <a:defRPr sz="54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SCU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600"/>
              </a:lnSpc>
              <a:defRPr sz="40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四川大学智能校园助手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0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软件工程课程设计  ·  开题报告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40"/>
              </a:lnSpc>
              <a:defRPr sz="1600" b="0" i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谭博文  徐锐学  孔垂骄  张傲楚  毛立业  朱圣相  李亚飞  谭旭睿  覃泽锴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01952" y="0"/>
            <a:ext cx="10287000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468880"/>
            <a:ext cx="2103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0584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78992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问题与出发点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75104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48256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4436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项目概述与功能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913632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86784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团队成员与分工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882896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956048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8521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220"/>
              </a:lnSpc>
              <a:defRPr sz="2800" b="1" i="0">
                <a:solidFill>
                  <a:srgbClr val="C41230"/>
                </a:solidFill>
                <a:latin typeface="Segoe UI" panose="020B0502040204020203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925312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30"/>
              </a:lnSpc>
              <a:defRPr sz="22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展示结果与未来计划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问题与出发点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1.1 选题背景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校园信息化现状与痛点</a:t>
            </a: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1060704" y="2011680"/>
            <a:ext cx="3291840" cy="3840480"/>
          </a:xfrm>
          <a:prstGeom prst="roundRect">
            <a:avLst/>
          </a:prstGeom>
          <a:solidFill>
            <a:srgbClr val="F5F5F8"/>
          </a:solidFill>
          <a:ln w="1905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4"/>
            </p:custDataLst>
          </p:nvPr>
        </p:nvSpPr>
        <p:spPr>
          <a:xfrm>
            <a:off x="2340864" y="2286000"/>
            <a:ext cx="640080" cy="64008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359152" y="2359152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335024" y="3108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信息碎片化</a:t>
            </a: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1335024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4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课表、成绩、校车、食堂分布在 </a:t>
            </a:r>
            <a:r>
              <a:rPr lang="zh-CN"/>
              <a:t>多</a:t>
            </a:r>
            <a:r>
              <a:t>个独立平台，学生需在多个系统间切换</a:t>
            </a:r>
          </a:p>
        </p:txBody>
      </p:sp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4517136" y="2011680"/>
            <a:ext cx="3291840" cy="3840480"/>
          </a:xfrm>
          <a:prstGeom prst="roundRect">
            <a:avLst/>
          </a:prstGeom>
          <a:solidFill>
            <a:srgbClr val="F5F5F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>
            <p:custDataLst>
              <p:tags r:id="rId9"/>
            </p:custDataLst>
          </p:nvPr>
        </p:nvSpPr>
        <p:spPr>
          <a:xfrm>
            <a:off x="5797296" y="228600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5815584" y="2359152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4791456" y="3108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系统体验差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4791456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4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教务系统 UI 陈旧，移动端适配差，查课表需要</a:t>
            </a:r>
            <a:r>
              <a:rPr lang="zh-CN"/>
              <a:t>多</a:t>
            </a:r>
            <a:r>
              <a:t>步操作</a:t>
            </a: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7973568" y="2011680"/>
            <a:ext cx="3291840" cy="3840480"/>
          </a:xfrm>
          <a:prstGeom prst="roundRect">
            <a:avLst/>
          </a:prstGeom>
          <a:solidFill>
            <a:srgbClr val="F5F5F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>
            <p:custDataLst>
              <p:tags r:id="rId14"/>
            </p:custDataLst>
          </p:nvPr>
        </p:nvSpPr>
        <p:spPr>
          <a:xfrm>
            <a:off x="9253728" y="22860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9272016" y="2359152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8247888" y="3108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缺乏智能化</a:t>
            </a: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8247888" y="3657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24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无 AI 问答入口，无个性化推荐，无统一的信息聚合能力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" y="6035040"/>
            <a:ext cx="10058400" cy="45720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606247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25"/>
              </a:lnSpc>
              <a:defRPr sz="1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市场空白：四川大学尚无一站式智能校园助手，6万+师生的刚需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1.2 数据来源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项目核心数据获取方式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173736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737360"/>
            <a:ext cx="73152" cy="192024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" y="1965960"/>
            <a:ext cx="548640" cy="5486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03911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教务系统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6504" y="23317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四川大学教务处综合教学管理系统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74320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通过 CAS 统一认证登录，获取</a:t>
            </a:r>
            <a:br/>
            <a:r>
              <a:t>课表、成绩、学分、GPA 等数据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4" y="173736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44184" y="1737360"/>
            <a:ext cx="73152" cy="192024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2784" y="1965960"/>
            <a:ext cx="548640" cy="54864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03911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9202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校园公开信息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23317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学校官网 / 后勤服务 / 校车中心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74320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食堂名称与窗口信息、校车发车</a:t>
            </a:r>
            <a:br/>
            <a:r>
              <a:t>时刻表（望江/江安/华西）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" y="388620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" y="3886200"/>
            <a:ext cx="73152" cy="19202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" y="41148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18795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6504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用户自主录入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6504" y="4480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用户在系统内创建和管理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6504" y="489204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DDL 截止日期、作业/考试提醒</a:t>
            </a:r>
            <a:br/>
            <a:r>
              <a:t>个人待办事项与优先级标记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44184" y="3886200"/>
            <a:ext cx="49377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44184" y="3886200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2784" y="41148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418795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30"/>
              </a:lnSpc>
              <a:defRPr sz="2200" b="1" i="0">
                <a:solidFill>
                  <a:srgbClr val="FFFFFF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40690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AI 大模型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8584" y="4480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通义千问 API（阿里云）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8584" y="4892040"/>
            <a:ext cx="36576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自然语言问答、意图识别、智能</a:t>
            </a:r>
            <a:br/>
            <a:r>
              <a:t>推荐，为对话模式提供 AI 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2.1 目标用户与核心需求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目标用户</a:t>
            </a:r>
          </a:p>
        </p:txBody>
      </p:sp>
      <p:sp>
        <p:nvSpPr>
          <p:cNvPr id="9" name="Oval 8"/>
          <p:cNvSpPr/>
          <p:nvPr/>
        </p:nvSpPr>
        <p:spPr>
          <a:xfrm>
            <a:off x="1060704" y="1691640"/>
            <a:ext cx="320040" cy="3200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四川大学全日制本科生 &amp; 研究生（6万+）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" y="2240280"/>
            <a:ext cx="320040" cy="3200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219456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日均需查课表 / 校车 / 食堂的在校学生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" y="2788920"/>
            <a:ext cx="320040" cy="32004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743200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期望通过 AI 提升日常效率的用户群体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09728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核心功能需求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45920"/>
            <a:ext cx="73152" cy="50292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642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效率提升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6824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一句话查课表，减少 80% 操作步骤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331720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3500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智能交互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3682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AI 自然语言理解 + 意图识别 + 个性化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017520"/>
            <a:ext cx="73152" cy="50292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0358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数据整合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0540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教务/食堂/校车/DDL 一站式聚合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703320"/>
            <a:ext cx="73152" cy="5029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7216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实时同步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7398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直连教务系统，数据即时更新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389120"/>
            <a:ext cx="73152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4074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体验升级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256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现代 UI + 深色主题 + 移动端优先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074920"/>
            <a:ext cx="73152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093208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009688"/>
                </a:solidFill>
                <a:latin typeface="微软雅黑" panose="020B0503020204020204" charset="-122"/>
              </a:defRPr>
            </a:pPr>
            <a:r>
              <a:t>任务管理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1114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DDL 截止提醒 + 优先级排序 + 日历视图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" y="5760720"/>
            <a:ext cx="10058400" cy="45720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" y="578815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核心定位：AI 驱动的一站式智能校园助手  ·  对话+页面双模式  ·  拟对接真实教务系统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项目概述与功能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3.1 产品定位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097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AI 驱动的一站式智能校园助手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0704" y="1645920"/>
            <a:ext cx="5029200" cy="1828800"/>
          </a:xfrm>
          <a:prstGeom prst="roundRect">
            <a:avLst/>
          </a:prstGeom>
          <a:solidFill>
            <a:srgbClr val="F5F5F8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" y="1645920"/>
            <a:ext cx="5029200" cy="457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170992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对话模式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19456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6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自然语言交互，AI 理解意图并自动调用功能模块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283464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例：「帮我看看明天有什么课」→ 自动查询课表返回结果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645920"/>
            <a:ext cx="5029200" cy="1828800"/>
          </a:xfrm>
          <a:prstGeom prst="roundRect">
            <a:avLst/>
          </a:prstGeom>
          <a:solidFill>
            <a:srgbClr val="F5F5F8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645920"/>
            <a:ext cx="502920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709928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页面模式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19456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60"/>
              </a:lnSpc>
              <a:defRPr sz="14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传统结构化页面，快速浏览与操作各功能模块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83464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1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课表周视图 / 食堂导航 / DDL 看板 / 校车时刻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749039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核心亮点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" y="4206240"/>
            <a:ext cx="2011680" cy="54864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72184" y="4389120"/>
            <a:ext cx="640080" cy="64008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9047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1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92354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真实数据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拟直连川大教务</a:t>
            </a:r>
            <a:br/>
            <a:r>
              <a:t>CAS + 验证码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8094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80944" y="420624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21024" y="43891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931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2</a:t>
            </a:r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307238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AI 原生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38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拟接入通义千问</a:t>
            </a:r>
            <a:br/>
            <a:r>
              <a:t>Function Calling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978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9784" y="4206240"/>
            <a:ext cx="201168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69864" y="4389120"/>
            <a:ext cx="640080" cy="6400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8815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3</a:t>
            </a:r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22122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现代全栈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122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Next.js + FastAPI</a:t>
            </a:r>
            <a:br/>
            <a:r>
              <a:t>+ Docker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7862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78624" y="4206240"/>
            <a:ext cx="20116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18704" y="4389120"/>
            <a:ext cx="640080" cy="64008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3699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4</a:t>
            </a:r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37006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体验优先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响应式设计</a:t>
            </a:r>
            <a:br/>
            <a:r>
              <a:t>+ 移动端适配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27464" y="4206240"/>
            <a:ext cx="201168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27464" y="4206240"/>
            <a:ext cx="20116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67544" y="438912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5832" y="4462272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300"/>
              </a:lnSpc>
              <a:defRPr sz="20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9518904" y="51206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工程化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8904" y="539496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Git Flow 协作</a:t>
            </a:r>
            <a:br/>
            <a:r>
              <a:t>+ Docker 部署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3.2 核心功能模块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109728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" y="1097280"/>
            <a:ext cx="3337560" cy="4572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16128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智能对话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69164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自然语言交互 + 多轮上下文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16712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Function Calling 意图路由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64261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个性化记忆系统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09728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1097280"/>
            <a:ext cx="333756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16128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课表 &amp; 成绩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69164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周视图课程表 + 颜色区分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16712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成绩查询 &amp; GPA 计算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64261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对接真实教务系统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109728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64424" y="1097280"/>
            <a:ext cx="333756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116128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食堂导航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169164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6 大食堂实时状态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16712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窗口导览与分类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64261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AI 推荐今天吃什么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" y="342900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" y="3429000"/>
            <a:ext cx="333756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" y="349300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DDL 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402336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作业/考试截止日期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49884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优先级排序 + 提醒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97433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日历视图 + 逾期标记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98264" y="342900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98264" y="3429000"/>
            <a:ext cx="33375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349300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校车时刻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402336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望江/江安/华西线路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49884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工作日/周末时刻表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97433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下一班倒计时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64424" y="3429000"/>
            <a:ext cx="33375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64424" y="3429000"/>
            <a:ext cx="3337560" cy="457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7304" y="3493008"/>
            <a:ext cx="2971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更多（规划中）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4" y="402336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校历查询 + 选课推荐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4498848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RAG 文档问答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4974336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 晨间简报 + 深色模式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团队成员与分工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4.1 团队组织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486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9 人团队  ·  4 个专业小组  ·  敏捷协作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1097280"/>
            <a:ext cx="2468880" cy="4572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前端组（2人）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17830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覃泽锴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Next.js 页面开发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2697480"/>
            <a:ext cx="365760" cy="36576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李</a:t>
            </a:r>
            <a:endParaRPr lang="zh-CN"/>
          </a:p>
        </p:txBody>
      </p:sp>
      <p:sp>
        <p:nvSpPr>
          <p:cNvPr id="18" name="TextBox 17"/>
          <p:cNvSpPr txBox="1"/>
          <p:nvPr/>
        </p:nvSpPr>
        <p:spPr>
          <a:xfrm>
            <a:off x="142646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李亚飞</a:t>
            </a:r>
            <a:endParaRPr lang="zh-CN"/>
          </a:p>
        </p:txBody>
      </p:sp>
      <p:sp>
        <p:nvSpPr>
          <p:cNvPr id="19" name="TextBox 18"/>
          <p:cNvSpPr txBox="1"/>
          <p:nvPr/>
        </p:nvSpPr>
        <p:spPr>
          <a:xfrm>
            <a:off x="142646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UI/UX 组件搭建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83864" y="1097280"/>
            <a:ext cx="246888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后端组（3人）</a:t>
            </a:r>
          </a:p>
        </p:txBody>
      </p:sp>
      <p:sp>
        <p:nvSpPr>
          <p:cNvPr id="23" name="Oval 22"/>
          <p:cNvSpPr/>
          <p:nvPr/>
        </p:nvSpPr>
        <p:spPr>
          <a:xfrm>
            <a:off x="3621024" y="17830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822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孔垂骄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822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FastAPI 接口</a:t>
            </a:r>
          </a:p>
        </p:txBody>
      </p:sp>
      <p:sp>
        <p:nvSpPr>
          <p:cNvPr id="27" name="Oval 26"/>
          <p:cNvSpPr/>
          <p:nvPr/>
        </p:nvSpPr>
        <p:spPr>
          <a:xfrm>
            <a:off x="3621024" y="26974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谭</a:t>
            </a:r>
            <a:endParaRPr>
              <a:sym typeface="+mn-ea"/>
            </a:endParaRPr>
          </a:p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07822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谭旭睿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822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数据库建模</a:t>
            </a:r>
          </a:p>
        </p:txBody>
      </p:sp>
      <p:sp>
        <p:nvSpPr>
          <p:cNvPr id="31" name="Oval 30"/>
          <p:cNvSpPr/>
          <p:nvPr/>
        </p:nvSpPr>
        <p:spPr>
          <a:xfrm>
            <a:off x="3621024" y="36118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36576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35661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毛立业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8224" y="3858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教务系统对接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3562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35624" y="1097280"/>
            <a:ext cx="24688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706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组（2人）</a:t>
            </a:r>
          </a:p>
        </p:txBody>
      </p:sp>
      <p:sp>
        <p:nvSpPr>
          <p:cNvPr id="38" name="Oval 37"/>
          <p:cNvSpPr/>
          <p:nvPr/>
        </p:nvSpPr>
        <p:spPr>
          <a:xfrm>
            <a:off x="6272784" y="17830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张</a:t>
            </a:r>
            <a:endParaRPr lang="zh-CN"/>
          </a:p>
        </p:txBody>
      </p:sp>
      <p:sp>
        <p:nvSpPr>
          <p:cNvPr id="40" name="TextBox 39"/>
          <p:cNvSpPr txBox="1"/>
          <p:nvPr/>
        </p:nvSpPr>
        <p:spPr>
          <a:xfrm>
            <a:off x="672998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张傲</a:t>
            </a:r>
            <a:r>
              <a:rPr lang="zh-CN"/>
              <a:t>楚</a:t>
            </a:r>
            <a:endParaRPr lang="zh-CN"/>
          </a:p>
        </p:txBody>
      </p:sp>
      <p:sp>
        <p:nvSpPr>
          <p:cNvPr id="41" name="TextBox 40"/>
          <p:cNvSpPr txBox="1"/>
          <p:nvPr/>
        </p:nvSpPr>
        <p:spPr>
          <a:xfrm>
            <a:off x="672998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LLM 意图路由</a:t>
            </a:r>
          </a:p>
        </p:txBody>
      </p:sp>
      <p:sp>
        <p:nvSpPr>
          <p:cNvPr id="42" name="Oval 41"/>
          <p:cNvSpPr/>
          <p:nvPr/>
        </p:nvSpPr>
        <p:spPr>
          <a:xfrm>
            <a:off x="6272784" y="269748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谭</a:t>
            </a:r>
            <a:endParaRPr lang="zh-CN"/>
          </a:p>
        </p:txBody>
      </p:sp>
      <p:sp>
        <p:nvSpPr>
          <p:cNvPr id="44" name="TextBox 43"/>
          <p:cNvSpPr txBox="1"/>
          <p:nvPr/>
        </p:nvSpPr>
        <p:spPr>
          <a:xfrm>
            <a:off x="672998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谭博文</a:t>
            </a:r>
            <a:endParaRPr lang="zh-CN"/>
          </a:p>
        </p:txBody>
      </p:sp>
      <p:sp>
        <p:nvSpPr>
          <p:cNvPr id="45" name="TextBox 44"/>
          <p:cNvSpPr txBox="1"/>
          <p:nvPr/>
        </p:nvSpPr>
        <p:spPr>
          <a:xfrm>
            <a:off x="672998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Function Calling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87384" y="1097280"/>
            <a:ext cx="246888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87384" y="1097280"/>
            <a:ext cx="246888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78824" y="116128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运维与管理（2人）</a:t>
            </a:r>
          </a:p>
        </p:txBody>
      </p:sp>
      <p:sp>
        <p:nvSpPr>
          <p:cNvPr id="49" name="Oval 48"/>
          <p:cNvSpPr/>
          <p:nvPr/>
        </p:nvSpPr>
        <p:spPr>
          <a:xfrm>
            <a:off x="8924544" y="178308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42832" y="1828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朱</a:t>
            </a:r>
            <a:endParaRPr lang="zh-CN"/>
          </a:p>
        </p:txBody>
      </p:sp>
      <p:sp>
        <p:nvSpPr>
          <p:cNvPr id="51" name="TextBox 50"/>
          <p:cNvSpPr txBox="1"/>
          <p:nvPr/>
        </p:nvSpPr>
        <p:spPr>
          <a:xfrm>
            <a:off x="9381744" y="1737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朱圣</a:t>
            </a:r>
            <a:r>
              <a:rPr lang="zh-CN"/>
              <a:t>相</a:t>
            </a:r>
            <a:endParaRPr lang="zh-CN"/>
          </a:p>
        </p:txBody>
      </p:sp>
      <p:sp>
        <p:nvSpPr>
          <p:cNvPr id="52" name="TextBox 51"/>
          <p:cNvSpPr txBox="1"/>
          <p:nvPr/>
        </p:nvSpPr>
        <p:spPr>
          <a:xfrm>
            <a:off x="9381744" y="20299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Docker 部署</a:t>
            </a:r>
          </a:p>
        </p:txBody>
      </p:sp>
      <p:sp>
        <p:nvSpPr>
          <p:cNvPr id="53" name="Oval 52"/>
          <p:cNvSpPr/>
          <p:nvPr/>
        </p:nvSpPr>
        <p:spPr>
          <a:xfrm>
            <a:off x="8924544" y="269748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2832" y="27432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徐</a:t>
            </a:r>
            <a:endParaRPr lang="zh-CN"/>
          </a:p>
        </p:txBody>
      </p:sp>
      <p:sp>
        <p:nvSpPr>
          <p:cNvPr id="55" name="TextBox 54"/>
          <p:cNvSpPr txBox="1"/>
          <p:nvPr/>
        </p:nvSpPr>
        <p:spPr>
          <a:xfrm>
            <a:off x="9381744" y="26517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10"/>
              </a:lnSpc>
              <a:defRPr sz="14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lang="zh-CN"/>
              <a:t>徐锐</a:t>
            </a:r>
            <a:r>
              <a:rPr lang="zh-CN"/>
              <a:t>学</a:t>
            </a:r>
            <a:endParaRPr lang="zh-CN"/>
          </a:p>
        </p:txBody>
      </p:sp>
      <p:sp>
        <p:nvSpPr>
          <p:cNvPr id="56" name="TextBox 55"/>
          <p:cNvSpPr txBox="1"/>
          <p:nvPr/>
        </p:nvSpPr>
        <p:spPr>
          <a:xfrm>
            <a:off x="9381744" y="29443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66677"/>
                </a:solidFill>
                <a:latin typeface="微软雅黑" panose="020B0503020204020204" charset="-122"/>
              </a:defRPr>
            </a:pPr>
            <a:r>
              <a:t>项目管理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" y="5029200"/>
            <a:ext cx="10058400" cy="45720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2104" y="505663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协作模式：GitHub Flow  |  每周例会  |  双周迭代  |  接口文档先行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2104" y="5623560"/>
            <a:ext cx="2514600" cy="36576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" y="5660136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 25%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46704" y="5623560"/>
            <a:ext cx="3017520" cy="36576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6704" y="5660136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30%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64224" y="5623560"/>
            <a:ext cx="25146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64224" y="5660136"/>
            <a:ext cx="2514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25%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78824" y="5623560"/>
            <a:ext cx="201168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78824" y="5660136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运维 20%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5.1 系统架构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1188720"/>
            <a:ext cx="10058400" cy="1097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" y="1188720"/>
            <a:ext cx="73152" cy="10972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2801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前端展示层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Next.js 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394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394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React 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410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410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shadcn/ui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4263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3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TailwindCSS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4424" y="164592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4" y="169164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Zustand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331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0" i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▼  REST API / SSE  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" y="2743200"/>
            <a:ext cx="10058400" cy="109728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" y="2743200"/>
            <a:ext cx="73152" cy="10972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283464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后端服务层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4378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4378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FastAPI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2394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2394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SQLAlchemy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410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410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84263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3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JWT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6442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6442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Pydantic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44584" y="320040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324612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httpx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8862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0" i="0">
                <a:solidFill>
                  <a:srgbClr val="888899"/>
                </a:solidFill>
                <a:latin typeface="微软雅黑" panose="020B0503020204020204" charset="-122"/>
              </a:defRPr>
            </a:pPr>
            <a:r>
              <a:t>▼  SQL / Cache / HTTP  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" y="4297680"/>
            <a:ext cx="10058400" cy="1097280"/>
          </a:xfrm>
          <a:prstGeom prst="roundRect">
            <a:avLst/>
          </a:prstGeom>
          <a:solidFill>
            <a:srgbClr val="FEF9E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" y="4297680"/>
            <a:ext cx="73152" cy="10972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" y="43891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40"/>
              </a:lnSpc>
              <a:defRPr sz="16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数据存储层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43784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43784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PostgreSQL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23944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23944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Redis Cache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04104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4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教务系统 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84263" y="4754880"/>
            <a:ext cx="1143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84263" y="4800600"/>
            <a:ext cx="1143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5"/>
              </a:lnSpc>
              <a:defRPr sz="1100" b="1" i="0">
                <a:solidFill>
                  <a:srgbClr val="D4A843"/>
                </a:solidFill>
                <a:latin typeface="微软雅黑" panose="020B0503020204020204" charset="-122"/>
              </a:defRPr>
            </a:pPr>
            <a:r>
              <a:t>通义千问 LLM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" y="5806440"/>
            <a:ext cx="10058400" cy="45720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" y="5833872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选型原则：  生产级成熟度  |  社区活跃度  |  团队学习曲线  |  异步优先性能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3_img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0"/>
            <a:ext cx="38587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2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224" y="256032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70"/>
              </a:lnSpc>
              <a:defRPr sz="1800" b="1" i="0">
                <a:solidFill>
                  <a:srgbClr val="D4A843"/>
                </a:solidFill>
                <a:latin typeface="Segoe UI" panose="020B0502040204020203"/>
              </a:defRPr>
            </a:pPr>
            <a:r>
              <a:t>Part.06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3792" y="3026664"/>
            <a:ext cx="5577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140"/>
              </a:lnSpc>
              <a:defRPr sz="36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展示结果与未来计划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60352" y="0"/>
            <a:ext cx="228600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6.1 当前进展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" y="1097280"/>
            <a:ext cx="10058400" cy="41148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1097280"/>
            <a:ext cx="1005840" cy="457200"/>
          </a:xfrm>
          <a:prstGeom prst="round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143000"/>
            <a:ext cx="4526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725"/>
              </a:lnSpc>
              <a:defRPr sz="15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10% — 规划阶段，正在学习技术栈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1737360"/>
            <a:ext cx="4846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" y="1737360"/>
            <a:ext cx="4846320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317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确定项目选题与整体方案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团队人员分工明确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技术路线与技术栈选型完成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项目功能模块规划完成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37360"/>
            <a:ext cx="4846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737360"/>
            <a:ext cx="48463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783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25"/>
              </a:lnSpc>
              <a:defRPr sz="15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进行中 / 待完成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3317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学习 Next.js / React 前端技术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学习 FastAPI / Python 后端技术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461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学习 AI 大模型接口调用方式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033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搭建前后端项目基础框架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605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数据库表结构设计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6177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教务系统登录流程调研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0749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各功能模块开发（课表/食堂等）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5321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○  Docker 部署环境搭建</a:t>
            </a:r>
          </a:p>
        </p:txBody>
      </p:sp>
      <p:sp>
        <p:nvSpPr>
          <p:cNvPr id="29" name="TextBox 16"/>
          <p:cNvSpPr txBox="1"/>
          <p:nvPr/>
        </p:nvSpPr>
        <p:spPr>
          <a:xfrm>
            <a:off x="1097280" y="4301490"/>
            <a:ext cx="506412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95"/>
              </a:lnSpc>
              <a:defRPr sz="13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✓  </a:t>
            </a:r>
            <a:r>
              <a:rPr lang="zh-CN" altLang="en-US"/>
              <a:t>已创建</a:t>
            </a:r>
            <a:r>
              <a:rPr lang="en-US" altLang="zh-CN"/>
              <a:t>https://github.com/Tom-b-w/SCU_Assistant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2_img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0"/>
            <a:ext cx="10287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4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"/>
            <a:ext cx="219456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" y="45720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990"/>
              </a:lnSpc>
              <a:defRPr sz="2600" b="1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6.2 开发计划（12周）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960120"/>
            <a:ext cx="2404872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" y="1371600"/>
            <a:ext cx="10058400" cy="381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7510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0974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4438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79024" y="1261872"/>
            <a:ext cx="228600" cy="228600"/>
          </a:xfrm>
          <a:prstGeom prst="ellipse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606040" cy="4114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第1-3周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1E90FF"/>
                </a:solidFill>
                <a:latin typeface="微软雅黑" panose="020B0503020204020204" charset="-122"/>
              </a:defRPr>
            </a:pPr>
            <a:r>
              <a:t>需求分析与框架搭建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需求调研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技术选型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前后端项目初始化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数据库设计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44568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基础路由与登录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1828800"/>
            <a:ext cx="260604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第4-6周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00C9A7"/>
                </a:solidFill>
                <a:latin typeface="微软雅黑" panose="020B0503020204020204" charset="-122"/>
              </a:defRPr>
            </a:pPr>
            <a:r>
              <a:t>核心功能开发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课表/成绩页面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食堂导航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校车时刻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DDL管理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544568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教务CAS登录对接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1828800"/>
            <a:ext cx="26060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第7-9周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AI接入与功能完善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通义千问对话接入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Function Calling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Dashboard汇总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深色模式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1828800"/>
            <a:ext cx="260604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49640" y="1828800"/>
            <a:ext cx="260604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41080" y="187452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第10-12周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FF6B35"/>
                </a:solidFill>
                <a:latin typeface="微软雅黑" panose="020B0503020204020204" charset="-122"/>
              </a:defRPr>
            </a:pPr>
            <a:r>
              <a:t>测试优化与交付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78892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性能优化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227832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安全加固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666744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用户测试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05656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Docker部署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544568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项目文档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983480"/>
            <a:ext cx="2240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答辩准备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" y="5577840"/>
            <a:ext cx="10058400" cy="502920"/>
          </a:xfrm>
          <a:prstGeom prst="roundRect">
            <a:avLst/>
          </a:prstGeom>
          <a:solidFill>
            <a:srgbClr val="FDF0F0"/>
          </a:solidFill>
          <a:ln w="9525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" y="562356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10"/>
              </a:lnSpc>
              <a:defRPr sz="1400" b="1" i="0">
                <a:solidFill>
                  <a:srgbClr val="C41230"/>
                </a:solidFill>
                <a:latin typeface="微软雅黑" panose="020B0503020204020204" charset="-122"/>
              </a:defRPr>
            </a:pPr>
            <a:r>
              <a:t>预期成果：可运行的Web应用  |  AI基础问答能力  |  核心功能模块完整  |  Docker可部署  |  项目文档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01_img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" y="0"/>
            <a:ext cx="12207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219456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39696" y="2606040"/>
            <a:ext cx="78638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060"/>
              </a:lnSpc>
              <a:defRPr sz="4400" b="1" i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感谢各位老师指正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2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3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4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5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6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7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8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9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0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1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2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3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4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ags/tag15.xml><?xml version="1.0" encoding="utf-8"?>
<p:tagLst xmlns:p="http://schemas.openxmlformats.org/presentationml/2006/main">
  <p:tag name="KSO_WM_DIAGRAM_VIRTUALLY_FRAME" val="{&quot;height&quot;:302.4,&quot;left&quot;:83.52,&quot;top&quot;:158.4,&quot;width&quot;:803.5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2477</Words>
  <Application>WPS 演示</Application>
  <PresentationFormat>On-screen Show (4:3)</PresentationFormat>
  <Paragraphs>473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Arial</vt:lpstr>
      <vt:lpstr>Segoe UI</vt:lpstr>
      <vt:lpstr>微软雅黑</vt:lpstr>
      <vt:lpstr>Calibri</vt:lpstr>
      <vt:lpstr>Arial Unicode MS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tbw</cp:lastModifiedBy>
  <cp:revision>2</cp:revision>
  <dcterms:created xsi:type="dcterms:W3CDTF">2013-01-27T09:14:00Z</dcterms:created>
  <dcterms:modified xsi:type="dcterms:W3CDTF">2026-03-17T11:15:02Z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5EE62D102E8045D7B61FDDD5C0310487_12</vt:lpwstr>
  </property>
</Properties>
</file>