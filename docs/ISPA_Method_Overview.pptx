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3657600"/>
            <a:ext cx="5486400" cy="5486400"/>
          </a:xfrm>
          <a:prstGeom prst="ellipse">
            <a:avLst/>
          </a:prstGeom>
          <a:solidFill>
            <a:srgbClr val="0A3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6439"/>
              </a:lnSpc>
              <a:defRPr sz="5600" b="1" i="0">
                <a:solidFill>
                  <a:srgbClr val="FFFFFF"/>
                </a:solidFill>
                <a:latin typeface="Segoe UI"/>
              </a:defRPr>
            </a:pPr>
            <a:r>
              <a:t>ISPA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2760"/>
              </a:lnSpc>
              <a:defRPr sz="2400" b="0" i="0">
                <a:solidFill>
                  <a:srgbClr val="BBDEFB"/>
                </a:solidFill>
                <a:latin typeface="Segoe UI"/>
              </a:defRPr>
            </a:pPr>
            <a:r>
              <a:t>Instance-adaptive Scaling for Prior Adjustment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0" y="3657600"/>
            <a:ext cx="2103120" cy="27432"/>
          </a:xfrm>
          <a:prstGeom prst="rect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93192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839"/>
              </a:lnSpc>
              <a:defRPr sz="1600" b="0" i="0">
                <a:solidFill>
                  <a:srgbClr val="90CAF9"/>
                </a:solidFill>
                <a:latin typeface="Segoe UI"/>
              </a:defRPr>
            </a:pPr>
            <a:r>
              <a:t>Label Shift Correction: From Ideal to Real-World Deployment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300"/>
              </a:lnSpc>
              <a:defRPr sz="2000" b="1" i="0">
                <a:solidFill>
                  <a:srgbClr val="FFFFFF"/>
                </a:solidFill>
                <a:latin typeface="Segoe UI"/>
              </a:defRPr>
            </a:pPr>
            <a:r>
              <a:t>(a) Label Shift Correction: Ideal Assumption vs. Real-World Deployment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5303520" cy="502920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47548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2070"/>
              </a:lnSpc>
              <a:defRPr sz="1800" b="1" i="0">
                <a:solidFill>
                  <a:srgbClr val="2E7D32"/>
                </a:solidFill>
                <a:latin typeface="Segoe UI"/>
              </a:defRPr>
            </a:pPr>
            <a:r>
              <a:t>Ideal Setting (prior work)  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389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839"/>
              </a:lnSpc>
              <a:defRPr sz="1600" b="1" i="0">
                <a:solidFill>
                  <a:srgbClr val="1E293B"/>
                </a:solidFill>
                <a:latin typeface="Consolas"/>
              </a:defRPr>
            </a:pPr>
            <a:r>
              <a:t>p(x|y) = p_S(x|y) = p_T(x|y)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468880"/>
            <a:ext cx="4389120" cy="1371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606040"/>
            <a:ext cx="384048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959"/>
              </a:lnSpc>
              <a:defRPr sz="1400" b="1">
                <a:solidFill>
                  <a:srgbClr val="2E7D32"/>
                </a:solidFill>
                <a:latin typeface="Segoe UI"/>
              </a:defRPr>
            </a:pPr>
            <a:r>
              <a:t>Key Assumption</a:t>
            </a:r>
          </a:p>
          <a:p>
            <a:pPr algn="l">
              <a:lnSpc>
                <a:spcPts val="1679"/>
              </a:lnSpc>
              <a:defRPr sz="1200" b="0">
                <a:solidFill>
                  <a:srgbClr val="1E293B"/>
                </a:solidFill>
                <a:latin typeface="Segoe UI"/>
              </a:defRPr>
            </a:pPr>
            <a:r>
              <a:t>Same appearance, different proportions</a:t>
            </a:r>
          </a:p>
          <a:p>
            <a:pPr algn="l">
              <a:lnSpc>
                <a:spcPts val="1679"/>
              </a:lnSpc>
              <a:defRPr sz="1200" b="1">
                <a:solidFill>
                  <a:srgbClr val="2E7D32"/>
                </a:solidFill>
                <a:latin typeface="Segoe UI"/>
              </a:defRPr>
            </a:pPr>
            <a:r>
              <a:t>→ Standard EM works perfectly</a:t>
            </a:r>
          </a:p>
          <a:p>
            <a:pPr algn="l">
              <a:lnSpc>
                <a:spcPts val="1679"/>
              </a:lnSpc>
              <a:defRPr sz="1200" b="0">
                <a:solidFill>
                  <a:srgbClr val="2E7D32"/>
                </a:solidFill>
                <a:latin typeface="Segoe UI"/>
              </a:defRPr>
            </a:pPr>
            <a:r>
              <a:t>Global α = 1.0 → ALL predictions CORRECT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4114800"/>
            <a:ext cx="1920240" cy="16459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206240"/>
            <a:ext cx="17373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150"/>
              </a:lnSpc>
              <a:defRPr sz="1000" b="1" i="0">
                <a:solidFill>
                  <a:srgbClr val="64748B"/>
                </a:solidFill>
                <a:latin typeface="Segoe UI"/>
              </a:defRPr>
            </a:pPr>
            <a:r>
              <a:t>Source Distribution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88720" y="4937760"/>
            <a:ext cx="228600" cy="54864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554480" y="4572000"/>
            <a:ext cx="228600" cy="9144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920240" y="5120640"/>
            <a:ext cx="228600" cy="36576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532120"/>
            <a:ext cx="17373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804"/>
              </a:lnSpc>
              <a:defRPr sz="700" b="0" i="0">
                <a:solidFill>
                  <a:srgbClr val="64748B"/>
                </a:solidFill>
                <a:latin typeface="Segoe UI"/>
              </a:defRPr>
            </a:pPr>
            <a:r>
              <a:t>0.%   0.%   0.%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017520" y="4114800"/>
            <a:ext cx="1920240" cy="16459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08960" y="4206240"/>
            <a:ext cx="17373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150"/>
              </a:lnSpc>
              <a:defRPr sz="1000" b="1" i="0">
                <a:solidFill>
                  <a:srgbClr val="64748B"/>
                </a:solidFill>
                <a:latin typeface="Segoe UI"/>
              </a:defRPr>
            </a:pPr>
            <a:r>
              <a:t>Target Distribution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83280" y="5120640"/>
            <a:ext cx="228600" cy="365760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749040" y="4937760"/>
            <a:ext cx="228600" cy="548640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14800" y="4572000"/>
            <a:ext cx="228600" cy="914400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217920" y="1097280"/>
            <a:ext cx="5303520" cy="502920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E65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1234440"/>
            <a:ext cx="47548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2070"/>
              </a:lnSpc>
              <a:defRPr sz="1800" b="1" i="0">
                <a:solidFill>
                  <a:srgbClr val="C62828"/>
                </a:solidFill>
                <a:latin typeface="Segoe UI"/>
              </a:defRPr>
            </a:pPr>
            <a:r>
              <a:t>Real-World Deployment (our focus)  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1828800"/>
            <a:ext cx="4389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839"/>
              </a:lnSpc>
              <a:defRPr sz="1600" b="1" i="0">
                <a:solidFill>
                  <a:srgbClr val="C62828"/>
                </a:solidFill>
                <a:latin typeface="Consolas"/>
              </a:defRPr>
            </a:pPr>
            <a:r>
              <a:t>p(x|y) ≠ p_S(x|y) ≠ p_T(x|y)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0" y="2468880"/>
            <a:ext cx="4389120" cy="1371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65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0" y="2606040"/>
            <a:ext cx="384048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959"/>
              </a:lnSpc>
              <a:defRPr sz="1400" b="1">
                <a:solidFill>
                  <a:srgbClr val="C62828"/>
                </a:solidFill>
                <a:latin typeface="Segoe UI"/>
              </a:defRPr>
            </a:pPr>
            <a:r>
              <a:t>Real-World Challenge</a:t>
            </a:r>
          </a:p>
          <a:p>
            <a:pPr algn="l">
              <a:lnSpc>
                <a:spcPts val="1679"/>
              </a:lnSpc>
              <a:defRPr sz="1200" b="0">
                <a:solidFill>
                  <a:srgbClr val="1E293B"/>
                </a:solidFill>
                <a:latin typeface="Segoe UI"/>
              </a:defRPr>
            </a:pPr>
            <a:r>
              <a:t>Same species, different appearance</a:t>
            </a:r>
          </a:p>
          <a:p>
            <a:pPr algn="l">
              <a:lnSpc>
                <a:spcPts val="1679"/>
              </a:lnSpc>
              <a:defRPr sz="1200" b="1">
                <a:solidFill>
                  <a:srgbClr val="C62828"/>
                </a:solidFill>
                <a:latin typeface="Segoe UI"/>
              </a:defRPr>
            </a:pPr>
            <a:r>
              <a:t>→ Global correction is catastrophic</a:t>
            </a:r>
          </a:p>
          <a:p>
            <a:pPr algn="l">
              <a:lnSpc>
                <a:spcPts val="1679"/>
              </a:lnSpc>
              <a:defRPr sz="1200" b="0">
                <a:solidFill>
                  <a:srgbClr val="E65C00"/>
                </a:solidFill>
                <a:latin typeface="Segoe UI"/>
              </a:defRPr>
            </a:pPr>
            <a:r>
              <a:t>Effective α window: only 0.04 wide!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0" y="4114800"/>
            <a:ext cx="1920240" cy="16459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75120" y="4206240"/>
            <a:ext cx="17373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264"/>
              </a:lnSpc>
              <a:defRPr sz="1100" b="1" i="0">
                <a:solidFill>
                  <a:srgbClr val="C62828"/>
                </a:solidFill>
                <a:latin typeface="Segoe UI"/>
              </a:defRPr>
            </a:pPr>
            <a:r>
              <a:t>Consequence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4526280"/>
            <a:ext cx="173736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820"/>
              </a:lnSpc>
              <a:defRPr sz="1300" b="1">
                <a:solidFill>
                  <a:srgbClr val="C62828"/>
                </a:solidFill>
                <a:latin typeface="Segoe UI"/>
              </a:defRPr>
            </a:pPr>
            <a:r>
              <a:t>F1 collapses</a:t>
            </a:r>
          </a:p>
          <a:p>
            <a:pPr algn="ctr">
              <a:lnSpc>
                <a:spcPts val="1539"/>
              </a:lnSpc>
              <a:defRPr sz="1100" b="0">
                <a:solidFill>
                  <a:srgbClr val="1E293B"/>
                </a:solidFill>
                <a:latin typeface="Segoe UI"/>
              </a:defRPr>
            </a:pPr>
            <a:r>
              <a:t>59% → danger zone</a:t>
            </a:r>
          </a:p>
          <a:p>
            <a:pPr algn="ctr">
              <a:lnSpc>
                <a:spcPts val="1400"/>
              </a:lnSpc>
              <a:defRPr sz="1000" b="0">
                <a:solidFill>
                  <a:srgbClr val="64748B"/>
                </a:solidFill>
                <a:latin typeface="Segoe UI"/>
              </a:defRPr>
            </a:pPr>
            <a:r>
              <a:t>Too aggressive / Too conservative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778240" y="4114800"/>
            <a:ext cx="1920240" cy="16459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F57F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69680" y="4206240"/>
            <a:ext cx="17373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264"/>
              </a:lnSpc>
              <a:defRPr sz="1100" b="1" i="0">
                <a:solidFill>
                  <a:srgbClr val="F57F17"/>
                </a:solidFill>
                <a:latin typeface="Segoe UI"/>
              </a:defRPr>
            </a:pPr>
            <a:r>
              <a:t>Razor Edge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69680" y="4526280"/>
            <a:ext cx="173736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679"/>
              </a:lnSpc>
              <a:defRPr sz="1200" b="1">
                <a:solidFill>
                  <a:srgbClr val="F57F17"/>
                </a:solidFill>
                <a:latin typeface="Segoe UI"/>
              </a:defRPr>
            </a:pPr>
            <a:r>
              <a:t>Effective α window</a:t>
            </a:r>
          </a:p>
          <a:p>
            <a:pPr algn="ctr">
              <a:lnSpc>
                <a:spcPts val="1959"/>
              </a:lnSpc>
              <a:defRPr sz="1400" b="1">
                <a:solidFill>
                  <a:srgbClr val="C62828"/>
                </a:solidFill>
                <a:latin typeface="Segoe UI"/>
              </a:defRPr>
            </a:pPr>
            <a:r>
              <a:t>only 0.04 wide</a:t>
            </a:r>
          </a:p>
          <a:p>
            <a:pPr algn="ctr">
              <a:lnSpc>
                <a:spcPts val="1260"/>
              </a:lnSpc>
              <a:defRPr sz="900" b="0">
                <a:solidFill>
                  <a:srgbClr val="64748B"/>
                </a:solidFill>
                <a:latin typeface="Segoe UI"/>
              </a:defRPr>
            </a:pPr>
            <a:r>
              <a:t>← Too aggressive | Too conservative →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300"/>
              </a:lnSpc>
              <a:defRPr sz="2000" b="1" i="0">
                <a:solidFill>
                  <a:srgbClr val="FFFFFF"/>
                </a:solidFill>
                <a:latin typeface="Segoe UI"/>
              </a:defRPr>
            </a:pPr>
            <a:r>
              <a:t>(b) ISPA: Instance-adaptive Scaling for Prior Adjustment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371600"/>
            <a:ext cx="1371600" cy="1828800"/>
          </a:xfrm>
          <a:prstGeom prst="roundRect">
            <a:avLst/>
          </a:prstGeom>
          <a:solidFill>
            <a:srgbClr val="E3F2FD"/>
          </a:solidFill>
          <a:ln w="9525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188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609"/>
              </a:lnSpc>
              <a:defRPr sz="1400" b="1" i="0">
                <a:solidFill>
                  <a:srgbClr val="1565C0"/>
                </a:solidFill>
                <a:latin typeface="Segoe UI"/>
              </a:defRPr>
            </a:pPr>
            <a:r>
              <a:t>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20240"/>
            <a:ext cx="11887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264"/>
              </a:lnSpc>
              <a:defRPr sz="1100" b="0" i="0">
                <a:solidFill>
                  <a:srgbClr val="64748B"/>
                </a:solidFill>
                <a:latin typeface="Segoe UI"/>
              </a:defRPr>
            </a:pPr>
            <a:r>
              <a:t>[Image]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011680"/>
            <a:ext cx="822960" cy="822960"/>
          </a:xfrm>
          <a:prstGeom prst="roundRect">
            <a:avLst/>
          </a:prstGeom>
          <a:solidFill>
            <a:srgbClr val="C8E6C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194560"/>
            <a:ext cx="8229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2760"/>
              </a:lnSpc>
              <a:defRPr sz="2400" b="0" i="0">
                <a:solidFill>
                  <a:srgbClr val="2E7D32"/>
                </a:solidFill>
                <a:latin typeface="Segoe UI"/>
              </a:defRPr>
            </a:pPr>
            <a:r>
              <a:t>🌿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83080" y="2286000"/>
            <a:ext cx="457200" cy="36576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Isosceles Triangle 10"/>
          <p:cNvSpPr/>
          <p:nvPr/>
        </p:nvSpPr>
        <p:spPr>
          <a:xfrm rot="5400000">
            <a:off x="2103120" y="2212848"/>
            <a:ext cx="182880" cy="182880"/>
          </a:xfrm>
          <a:prstGeom prst="triangl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377440" y="1371600"/>
            <a:ext cx="1645920" cy="1828800"/>
          </a:xfrm>
          <a:prstGeom prst="roundRect">
            <a:avLst/>
          </a:prstGeom>
          <a:solidFill>
            <a:srgbClr val="F3E5F5"/>
          </a:solidFill>
          <a:ln w="9525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68880" y="1463040"/>
            <a:ext cx="1463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380"/>
              </a:lnSpc>
              <a:defRPr sz="1200" b="1" i="0">
                <a:solidFill>
                  <a:srgbClr val="6A1B9A"/>
                </a:solidFill>
                <a:latin typeface="Segoe UI"/>
              </a:defRPr>
            </a:pPr>
            <a:r>
              <a:t>Frozen Classifier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1828800"/>
            <a:ext cx="1463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264"/>
              </a:lnSpc>
              <a:defRPr sz="1100" b="0" i="0">
                <a:solidFill>
                  <a:srgbClr val="6A1B9A"/>
                </a:solidFill>
                <a:latin typeface="Segoe UI"/>
              </a:defRPr>
            </a:pPr>
            <a:r>
              <a:t>(ResNet50)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34640" y="2194560"/>
            <a:ext cx="731520" cy="7315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34640" y="2286000"/>
            <a:ext cx="7315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2529"/>
              </a:lnSpc>
              <a:defRPr sz="2200" b="0" i="0">
                <a:solidFill>
                  <a:srgbClr val="6A1B9A"/>
                </a:solidFill>
                <a:latin typeface="Segoe UI"/>
              </a:defRPr>
            </a:pPr>
            <a:r>
              <a:t>🧠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0" y="2286000"/>
            <a:ext cx="457200" cy="36576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Isosceles Triangle 17"/>
          <p:cNvSpPr/>
          <p:nvPr/>
        </p:nvSpPr>
        <p:spPr>
          <a:xfrm rot="5400000">
            <a:off x="4434840" y="2212848"/>
            <a:ext cx="182880" cy="182880"/>
          </a:xfrm>
          <a:prstGeom prst="triangl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663440" y="1097280"/>
            <a:ext cx="2743200" cy="2560320"/>
          </a:xfrm>
          <a:prstGeom prst="roundRect">
            <a:avLst/>
          </a:prstGeom>
          <a:solidFill>
            <a:srgbClr val="E3F2FD"/>
          </a:solidFill>
          <a:ln w="190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663440" y="1097280"/>
            <a:ext cx="2743200" cy="41148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54880" y="1143000"/>
            <a:ext cx="2560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495"/>
              </a:lnSpc>
              <a:defRPr sz="1300" b="1" i="0">
                <a:solidFill>
                  <a:srgbClr val="FFFFFF"/>
                </a:solidFill>
                <a:latin typeface="Segoe UI"/>
              </a:defRPr>
            </a:pPr>
            <a:r>
              <a:t>Stage 1: Prior Estimation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46320" y="1691640"/>
            <a:ext cx="2286000" cy="457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37760" y="1737360"/>
            <a:ext cx="2103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380"/>
              </a:lnSpc>
              <a:defRPr sz="1200" b="1" i="0">
                <a:solidFill>
                  <a:srgbClr val="1565C0"/>
                </a:solidFill>
                <a:latin typeface="Segoe UI"/>
              </a:defRPr>
            </a:pPr>
            <a:r>
              <a:t>Regularized EM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37760" y="2286000"/>
            <a:ext cx="22860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39"/>
              </a:lnSpc>
              <a:defRPr sz="1100" b="0">
                <a:solidFill>
                  <a:srgbClr val="1E293B"/>
                </a:solidFill>
                <a:latin typeface="Consolas"/>
              </a:defRPr>
            </a:pPr>
            <a:r>
              <a:t>w_k: target estimation</a:t>
            </a:r>
          </a:p>
          <a:p>
            <a:pPr algn="l">
              <a:lnSpc>
                <a:spcPts val="1679"/>
              </a:lnSpc>
              <a:defRPr sz="1200" b="1">
                <a:solidFill>
                  <a:srgbClr val="1565C0"/>
                </a:solidFill>
                <a:latin typeface="Consolas"/>
              </a:defRPr>
            </a:pPr>
            <a:r>
              <a:t>w_k = π_k / c_k</a:t>
            </a:r>
          </a:p>
          <a:p>
            <a:pPr algn="l">
              <a:lnSpc>
                <a:spcPts val="1539"/>
              </a:lnSpc>
              <a:defRPr sz="1100" b="0">
                <a:solidFill>
                  <a:srgbClr val="1E293B"/>
                </a:solidFill>
                <a:latin typeface="Consolas"/>
              </a:defRPr>
            </a:pPr>
            <a:r>
              <a:t>π̂ = λ·q_EM + (1-λ)·u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498079" y="2286000"/>
            <a:ext cx="457200" cy="36576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Isosceles Triangle 25"/>
          <p:cNvSpPr/>
          <p:nvPr/>
        </p:nvSpPr>
        <p:spPr>
          <a:xfrm rot="5400000">
            <a:off x="7818119" y="2212848"/>
            <a:ext cx="182880" cy="182880"/>
          </a:xfrm>
          <a:prstGeom prst="triangl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046720" y="1097280"/>
            <a:ext cx="3657600" cy="256032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79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46720" y="1097280"/>
            <a:ext cx="3657600" cy="411480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38160" y="1143000"/>
            <a:ext cx="3474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495"/>
              </a:lnSpc>
              <a:defRPr sz="1300" b="1" i="0">
                <a:solidFill>
                  <a:srgbClr val="FFFFFF"/>
                </a:solidFill>
                <a:latin typeface="Segoe UI"/>
              </a:defRPr>
            </a:pPr>
            <a:r>
              <a:t>Stage 2: Confidence-Adaptive Weights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1645920"/>
            <a:ext cx="32918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380"/>
              </a:lnSpc>
              <a:defRPr sz="1200" b="1" i="0">
                <a:solidFill>
                  <a:srgbClr val="00796B"/>
                </a:solidFill>
                <a:latin typeface="Segoe UI"/>
              </a:defRPr>
            </a:pPr>
            <a:r>
              <a:t>Confidence Gauge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321040" y="2011680"/>
            <a:ext cx="3017520" cy="411480"/>
          </a:xfrm>
          <a:prstGeom prst="roundRect">
            <a:avLst/>
          </a:prstGeom>
          <a:solidFill>
            <a:srgbClr val="C8E6C9"/>
          </a:solidFill>
          <a:ln w="9525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0" y="2057400"/>
            <a:ext cx="548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80"/>
              </a:lnSpc>
              <a:defRPr sz="1200" b="1" i="0">
                <a:solidFill>
                  <a:srgbClr val="2E7D32"/>
                </a:solidFill>
                <a:latin typeface="Segoe UI"/>
              </a:defRPr>
            </a:pPr>
            <a:r>
              <a:t>95%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144000" y="2121408"/>
            <a:ext cx="1371600" cy="1828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4000" y="2121408"/>
            <a:ext cx="1303020" cy="1828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607040" y="2057400"/>
            <a:ext cx="731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919"/>
              </a:lnSpc>
              <a:defRPr sz="800" b="0" i="0">
                <a:solidFill>
                  <a:srgbClr val="64748B"/>
                </a:solidFill>
                <a:latin typeface="Segoe UI"/>
              </a:defRPr>
            </a:pPr>
            <a:r>
              <a:t>High confidence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321040" y="2514600"/>
            <a:ext cx="3017520" cy="411480"/>
          </a:xfrm>
          <a:prstGeom prst="roundRect">
            <a:avLst/>
          </a:prstGeom>
          <a:solidFill>
            <a:srgbClr val="FFF8E1"/>
          </a:solidFill>
          <a:ln w="9525">
            <a:solidFill>
              <a:srgbClr val="F57F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03920" y="2560320"/>
            <a:ext cx="548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80"/>
              </a:lnSpc>
              <a:defRPr sz="1200" b="1" i="0">
                <a:solidFill>
                  <a:srgbClr val="F57F17"/>
                </a:solidFill>
                <a:latin typeface="Segoe UI"/>
              </a:defRPr>
            </a:pPr>
            <a:r>
              <a:t>15%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44000" y="2624328"/>
            <a:ext cx="1371600" cy="1828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144000" y="2624328"/>
            <a:ext cx="205740" cy="182880"/>
          </a:xfrm>
          <a:prstGeom prst="rect">
            <a:avLst/>
          </a:prstGeom>
          <a:solidFill>
            <a:srgbClr val="F5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607040" y="2560320"/>
            <a:ext cx="731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919"/>
              </a:lnSpc>
              <a:defRPr sz="800" b="0" i="0">
                <a:solidFill>
                  <a:srgbClr val="64748B"/>
                </a:solidFill>
                <a:latin typeface="Segoe UI"/>
              </a:defRPr>
            </a:pPr>
            <a:r>
              <a:t>Low confidence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321040" y="3017520"/>
            <a:ext cx="3017520" cy="411480"/>
          </a:xfrm>
          <a:prstGeom prst="roundRect">
            <a:avLst/>
          </a:prstGeom>
          <a:solidFill>
            <a:srgbClr val="E3F2FD"/>
          </a:solidFill>
          <a:ln w="9525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503920" y="3063240"/>
            <a:ext cx="548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80"/>
              </a:lnSpc>
              <a:defRPr sz="1200" b="1" i="0">
                <a:solidFill>
                  <a:srgbClr val="1565C0"/>
                </a:solidFill>
                <a:latin typeface="Segoe UI"/>
              </a:defRPr>
            </a:pPr>
            <a:r>
              <a:t>45%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144000" y="3127248"/>
            <a:ext cx="1371600" cy="1828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144000" y="3127248"/>
            <a:ext cx="617220" cy="18288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607040" y="3063240"/>
            <a:ext cx="731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919"/>
              </a:lnSpc>
              <a:defRPr sz="800" b="0" i="0">
                <a:solidFill>
                  <a:srgbClr val="64748B"/>
                </a:solidFill>
                <a:latin typeface="Segoe UI"/>
              </a:defRPr>
            </a:pPr>
            <a:r>
              <a:t>Medium confidence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65760" y="3931920"/>
            <a:ext cx="5943600" cy="2560320"/>
          </a:xfrm>
          <a:prstGeom prst="roundRect">
            <a:avLst/>
          </a:prstGeom>
          <a:solidFill>
            <a:srgbClr val="F5F5F5"/>
          </a:solidFill>
          <a:ln w="9525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65760" y="3931920"/>
            <a:ext cx="5943600" cy="41148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48640" y="3977639"/>
            <a:ext cx="55778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495"/>
              </a:lnSpc>
              <a:defRPr sz="1300" b="1" i="0">
                <a:solidFill>
                  <a:srgbClr val="FFFFFF"/>
                </a:solidFill>
                <a:latin typeface="Segoe UI"/>
              </a:defRPr>
            </a:pPr>
            <a:r>
              <a:t>ISPA Core Formula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31520" y="4480560"/>
            <a:ext cx="5303520" cy="1645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79"/>
              </a:lnSpc>
              <a:defRPr sz="1200" b="0">
                <a:solidFill>
                  <a:srgbClr val="1E293B"/>
                </a:solidFill>
                <a:latin typeface="Consolas"/>
              </a:defRPr>
            </a:pPr>
            <a:r>
              <a:t>φ = 0:  No correction applied  (α_i ≈ 1)</a:t>
            </a:r>
          </a:p>
          <a:p>
            <a:pPr algn="l">
              <a:lnSpc>
                <a:spcPts val="1679"/>
              </a:lnSpc>
              <a:defRPr sz="1200" b="0">
                <a:solidFill>
                  <a:srgbClr val="1E293B"/>
                </a:solidFill>
                <a:latin typeface="Consolas"/>
              </a:defRPr>
            </a:pPr>
            <a:r>
              <a:t>φ = 1:  Full correction  (α_i ≈ s)</a:t>
            </a:r>
          </a:p>
          <a:p>
            <a:pPr algn="l">
              <a:lnSpc>
                <a:spcPts val="1120"/>
              </a:lnSpc>
              <a:defRPr sz="800" b="0">
                <a:solidFill>
                  <a:srgbClr val="1E293B"/>
                </a:solidFill>
                <a:latin typeface="Consolas"/>
              </a:defRPr>
            </a:pPr>
          </a:p>
          <a:p>
            <a:pPr algn="l">
              <a:lnSpc>
                <a:spcPts val="1959"/>
              </a:lnSpc>
              <a:defRPr sz="1400" b="1">
                <a:solidFill>
                  <a:srgbClr val="1565C0"/>
                </a:solidFill>
                <a:latin typeface="Consolas"/>
              </a:defRPr>
            </a:pPr>
            <a:r>
              <a:t>ISPA α_i: Instance-adaptive</a:t>
            </a:r>
          </a:p>
          <a:p>
            <a:pPr algn="l">
              <a:lnSpc>
                <a:spcPts val="1679"/>
              </a:lnSpc>
              <a:defRPr sz="1200" b="0">
                <a:solidFill>
                  <a:srgbClr val="00796B"/>
                </a:solidFill>
                <a:latin typeface="Consolas"/>
              </a:defRPr>
            </a:pPr>
            <a:r>
              <a:t>Strength varied per sample based on confidence φ_i</a:t>
            </a:r>
          </a:p>
          <a:p>
            <a:pPr algn="l">
              <a:lnSpc>
                <a:spcPts val="1120"/>
              </a:lnSpc>
              <a:defRPr sz="800" b="0">
                <a:solidFill>
                  <a:srgbClr val="1E293B"/>
                </a:solidFill>
                <a:latin typeface="Consolas"/>
              </a:defRPr>
            </a:pPr>
          </a:p>
          <a:p>
            <a:pPr algn="l">
              <a:lnSpc>
                <a:spcPts val="1539"/>
              </a:lnSpc>
              <a:defRPr sz="1100" b="0">
                <a:solidFill>
                  <a:srgbClr val="6A1B9A"/>
                </a:solidFill>
                <a:latin typeface="Consolas"/>
              </a:defRPr>
            </a:pPr>
            <a:r>
              <a:t>φ = (1-conf)^b  →  High conf → less correction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583680" y="3931920"/>
            <a:ext cx="5029200" cy="2560320"/>
          </a:xfrm>
          <a:prstGeom prst="roundRect">
            <a:avLst/>
          </a:prstGeom>
          <a:solidFill>
            <a:srgbClr val="F5F5F5"/>
          </a:solidFill>
          <a:ln w="9525">
            <a:solidFill>
              <a:srgbClr val="0079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583680" y="3931920"/>
            <a:ext cx="5029200" cy="411480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766560" y="3977639"/>
            <a:ext cx="46634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495"/>
              </a:lnSpc>
              <a:defRPr sz="1300" b="1" i="0">
                <a:solidFill>
                  <a:srgbClr val="FFFFFF"/>
                </a:solidFill>
                <a:latin typeface="Segoe UI"/>
              </a:defRPr>
            </a:pPr>
            <a:r>
              <a:t>ISPA Correctness Visualization (showing α_i adaptation)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858000" y="4526280"/>
            <a:ext cx="1005840" cy="1645920"/>
          </a:xfrm>
          <a:prstGeom prst="roundRect">
            <a:avLst/>
          </a:prstGeom>
          <a:solidFill>
            <a:srgbClr val="C8E6C9"/>
          </a:solidFill>
          <a:ln w="9525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903720" y="461772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150"/>
              </a:lnSpc>
              <a:defRPr sz="1000" b="1" i="0">
                <a:solidFill>
                  <a:srgbClr val="2E7D32"/>
                </a:solidFill>
                <a:latin typeface="Consolas"/>
              </a:defRPr>
            </a:pPr>
            <a:r>
              <a:t>α_i ≈ 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903720" y="4983480"/>
            <a:ext cx="914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035"/>
              </a:lnSpc>
              <a:defRPr sz="900" b="1" i="0">
                <a:solidFill>
                  <a:srgbClr val="2E7D32"/>
                </a:solidFill>
                <a:latin typeface="Segoe UI"/>
              </a:defRPr>
            </a:pPr>
            <a:r>
              <a:t>Confidently</a:t>
            </a:r>
            <a:br/>
            <a:r>
              <a:t>CORRECT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903720" y="5532120"/>
            <a:ext cx="914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919"/>
              </a:lnSpc>
              <a:defRPr sz="800" b="0" i="0">
                <a:solidFill>
                  <a:srgbClr val="64748B"/>
                </a:solidFill>
                <a:latin typeface="Segoe UI"/>
              </a:defRPr>
            </a:pPr>
            <a:r>
              <a:t>ADAPTED &amp;</a:t>
            </a:r>
            <a:br/>
            <a:r>
              <a:t>CORRECT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046720" y="4526280"/>
            <a:ext cx="1005840" cy="1645920"/>
          </a:xfrm>
          <a:prstGeom prst="roundRect">
            <a:avLst/>
          </a:prstGeom>
          <a:solidFill>
            <a:srgbClr val="E0F2F1"/>
          </a:solidFill>
          <a:ln w="9525">
            <a:solidFill>
              <a:srgbClr val="0079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092440" y="461772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150"/>
              </a:lnSpc>
              <a:defRPr sz="1000" b="1" i="0">
                <a:solidFill>
                  <a:srgbClr val="00796B"/>
                </a:solidFill>
                <a:latin typeface="Consolas"/>
              </a:defRPr>
            </a:pPr>
            <a:r>
              <a:t>α_i ≈ 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092440" y="4983480"/>
            <a:ext cx="914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035"/>
              </a:lnSpc>
              <a:defRPr sz="900" b="1" i="0">
                <a:solidFill>
                  <a:srgbClr val="00796B"/>
                </a:solidFill>
                <a:latin typeface="Segoe UI"/>
              </a:defRPr>
            </a:pPr>
            <a:r>
              <a:t>Adapted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092440" y="5532120"/>
            <a:ext cx="914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919"/>
              </a:lnSpc>
              <a:defRPr sz="800" b="0" i="0">
                <a:solidFill>
                  <a:srgbClr val="64748B"/>
                </a:solidFill>
                <a:latin typeface="Segoe UI"/>
              </a:defRPr>
            </a:pPr>
            <a:r>
              <a:t>Moderate</a:t>
            </a:r>
            <a:br/>
            <a:r>
              <a:t>confidence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235440" y="4526280"/>
            <a:ext cx="1005840" cy="1645920"/>
          </a:xfrm>
          <a:prstGeom prst="roundRect">
            <a:avLst/>
          </a:prstGeom>
          <a:solidFill>
            <a:srgbClr val="FFF8E1"/>
          </a:solidFill>
          <a:ln w="9525">
            <a:solidFill>
              <a:srgbClr val="F57F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281160" y="461772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150"/>
              </a:lnSpc>
              <a:defRPr sz="1000" b="1" i="0">
                <a:solidFill>
                  <a:srgbClr val="F57F17"/>
                </a:solidFill>
                <a:latin typeface="Consolas"/>
              </a:defRPr>
            </a:pPr>
            <a:r>
              <a:t>α_i ≈ 1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281160" y="4983480"/>
            <a:ext cx="914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035"/>
              </a:lnSpc>
              <a:defRPr sz="900" b="1" i="0">
                <a:solidFill>
                  <a:srgbClr val="F57F17"/>
                </a:solidFill>
                <a:latin typeface="Segoe UI"/>
              </a:defRPr>
            </a:pPr>
            <a:r>
              <a:t>Preserved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281160" y="5532120"/>
            <a:ext cx="914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919"/>
              </a:lnSpc>
              <a:defRPr sz="800" b="0" i="0">
                <a:solidFill>
                  <a:srgbClr val="64748B"/>
                </a:solidFill>
                <a:latin typeface="Segoe UI"/>
              </a:defRPr>
            </a:pPr>
            <a:r>
              <a:t>Low</a:t>
            </a:r>
            <a:br/>
            <a:r>
              <a:t>confidence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10424160" y="4526280"/>
            <a:ext cx="1005840" cy="1645920"/>
          </a:xfrm>
          <a:prstGeom prst="roundRect">
            <a:avLst/>
          </a:prstGeom>
          <a:solidFill>
            <a:srgbClr val="F0F0F0"/>
          </a:solidFill>
          <a:ln w="95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469880" y="461772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150"/>
              </a:lnSpc>
              <a:defRPr sz="1000" b="1" i="0">
                <a:solidFill>
                  <a:srgbClr val="94A3B8"/>
                </a:solidFill>
                <a:latin typeface="Consolas"/>
              </a:defRPr>
            </a:pPr>
            <a:r>
              <a:t>α_i ≈ 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469880" y="4983480"/>
            <a:ext cx="914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035"/>
              </a:lnSpc>
              <a:defRPr sz="900" b="1" i="0">
                <a:solidFill>
                  <a:srgbClr val="94A3B8"/>
                </a:solidFill>
                <a:latin typeface="Segoe UI"/>
              </a:defRPr>
            </a:pPr>
            <a:r>
              <a:t>No change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469880" y="5532120"/>
            <a:ext cx="914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919"/>
              </a:lnSpc>
              <a:defRPr sz="800" b="0" i="0">
                <a:solidFill>
                  <a:srgbClr val="64748B"/>
                </a:solidFill>
                <a:latin typeface="Segoe UI"/>
              </a:defRPr>
            </a:pPr>
            <a:r>
              <a:t>Uncertain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6858000" y="6263640"/>
            <a:ext cx="4572000" cy="365760"/>
          </a:xfrm>
          <a:prstGeom prst="roundRect">
            <a:avLst/>
          </a:prstGeom>
          <a:solidFill>
            <a:srgbClr val="C8E6C9"/>
          </a:solidFill>
          <a:ln w="9525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949440" y="6291072"/>
            <a:ext cx="4389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264"/>
              </a:lnSpc>
              <a:defRPr sz="1100" b="1" i="0">
                <a:solidFill>
                  <a:srgbClr val="2E7D32"/>
                </a:solidFill>
                <a:latin typeface="Segoe UI"/>
              </a:defRPr>
            </a:pPr>
            <a:r>
              <a:t>→ Aggregated correct count increases with ISPA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300"/>
              </a:lnSpc>
              <a:defRPr sz="2000" b="1" i="0">
                <a:solidFill>
                  <a:srgbClr val="FFFFFF"/>
                </a:solidFill>
                <a:latin typeface="Segoe UI"/>
              </a:defRPr>
            </a:pPr>
            <a:r>
              <a:t>ISPA: Key Advantages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10515600" cy="109728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188720"/>
            <a:ext cx="91440" cy="109728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28016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39"/>
              </a:lnSpc>
              <a:defRPr sz="1600" b="1" i="0">
                <a:solidFill>
                  <a:srgbClr val="1565C0"/>
                </a:solidFill>
                <a:latin typeface="Segoe UI"/>
              </a:defRPr>
            </a:pPr>
            <a:r>
              <a:t>Instance-Adaptive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64592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80"/>
              </a:lnSpc>
              <a:defRPr sz="1200" b="0" i="0">
                <a:solidFill>
                  <a:srgbClr val="1E293B"/>
                </a:solidFill>
                <a:latin typeface="Consolas"/>
              </a:defRPr>
            </a:pPr>
            <a:r>
              <a:t>Per-sample α_i instead of global 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1463040"/>
            <a:ext cx="5029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80"/>
              </a:lnSpc>
              <a:defRPr sz="1200" b="0" i="0">
                <a:solidFill>
                  <a:srgbClr val="64748B"/>
                </a:solidFill>
                <a:latin typeface="Segoe UI"/>
              </a:defRPr>
            </a:pPr>
            <a:r>
              <a:t>Avoids the catastrophic failure of one-size-fits-all correction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468880"/>
            <a:ext cx="10515600" cy="1097280"/>
          </a:xfrm>
          <a:prstGeom prst="roundRect">
            <a:avLst/>
          </a:prstGeom>
          <a:solidFill>
            <a:srgbClr val="E0F2F1"/>
          </a:solidFill>
          <a:ln w="12700">
            <a:solidFill>
              <a:srgbClr val="0079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2468880"/>
            <a:ext cx="91440" cy="1097280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256032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39"/>
              </a:lnSpc>
              <a:defRPr sz="1600" b="1" i="0">
                <a:solidFill>
                  <a:srgbClr val="00796B"/>
                </a:solidFill>
                <a:latin typeface="Segoe UI"/>
              </a:defRPr>
            </a:pPr>
            <a:r>
              <a:t>Confidence-Driven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92608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80"/>
              </a:lnSpc>
              <a:defRPr sz="1200" b="0" i="0">
                <a:solidFill>
                  <a:srgbClr val="1E293B"/>
                </a:solidFill>
                <a:latin typeface="Consolas"/>
              </a:defRPr>
            </a:pPr>
            <a:r>
              <a:t>Confidence gauge φ controls correction strength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2743200"/>
            <a:ext cx="5029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80"/>
              </a:lnSpc>
              <a:defRPr sz="1200" b="0" i="0">
                <a:solidFill>
                  <a:srgbClr val="64748B"/>
                </a:solidFill>
                <a:latin typeface="Segoe UI"/>
              </a:defRPr>
            </a:pPr>
            <a:r>
              <a:t>High-confidence samples get full correction; uncertain ones stay safe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749040"/>
            <a:ext cx="10515600" cy="1097280"/>
          </a:xfrm>
          <a:prstGeom prst="roundRect">
            <a:avLst/>
          </a:prstGeom>
          <a:solidFill>
            <a:srgbClr val="F3E5F5"/>
          </a:solidFill>
          <a:ln w="1270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3749040"/>
            <a:ext cx="91440" cy="109728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384048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39"/>
              </a:lnSpc>
              <a:defRPr sz="1600" b="1" i="0">
                <a:solidFill>
                  <a:srgbClr val="6A1B9A"/>
                </a:solidFill>
                <a:latin typeface="Segoe UI"/>
              </a:defRPr>
            </a:pPr>
            <a:r>
              <a:t>Regularized EM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20624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80"/>
              </a:lnSpc>
              <a:defRPr sz="1200" b="0" i="0">
                <a:solidFill>
                  <a:srgbClr val="1E293B"/>
                </a:solidFill>
                <a:latin typeface="Consolas"/>
              </a:defRPr>
            </a:pPr>
            <a:r>
              <a:t>Smoothed prior estimation with uniform fallback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4023360"/>
            <a:ext cx="5029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80"/>
              </a:lnSpc>
              <a:defRPr sz="1200" b="0" i="0">
                <a:solidFill>
                  <a:srgbClr val="64748B"/>
                </a:solidFill>
                <a:latin typeface="Segoe UI"/>
              </a:defRPr>
            </a:pPr>
            <a:r>
              <a:t>Prevents extreme weight collapse from noisy or biased class estimates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029199"/>
            <a:ext cx="10515600" cy="1097280"/>
          </a:xfrm>
          <a:prstGeom prst="roundRect">
            <a:avLst/>
          </a:prstGeom>
          <a:solidFill>
            <a:srgbClr val="FFF3E0"/>
          </a:solidFill>
          <a:ln w="12700">
            <a:solidFill>
              <a:srgbClr val="E65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5029199"/>
            <a:ext cx="91440" cy="1097280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5120639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39"/>
              </a:lnSpc>
              <a:defRPr sz="1600" b="1" i="0">
                <a:solidFill>
                  <a:srgbClr val="E65C00"/>
                </a:solidFill>
                <a:latin typeface="Segoe UI"/>
              </a:defRPr>
            </a:pPr>
            <a:r>
              <a:t>Robust to Appearance Shift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5486399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80"/>
              </a:lnSpc>
              <a:defRPr sz="1200" b="0" i="0">
                <a:solidFill>
                  <a:srgbClr val="1E293B"/>
                </a:solidFill>
                <a:latin typeface="Consolas"/>
              </a:defRPr>
            </a:pPr>
            <a:r>
              <a:t>Works when p_S(x|y) ≠ p_T(x|y)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5303519"/>
            <a:ext cx="5029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80"/>
              </a:lnSpc>
              <a:defRPr sz="1200" b="0" i="0">
                <a:solidFill>
                  <a:srgbClr val="64748B"/>
                </a:solidFill>
                <a:latin typeface="Segoe UI"/>
              </a:defRPr>
            </a:pPr>
            <a:r>
              <a:t>The real-world scenario where standard methods catastrophically fail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828800" y="5760720"/>
            <a:ext cx="8229600" cy="640080"/>
          </a:xfrm>
          <a:prstGeom prst="round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011680" y="5852160"/>
            <a:ext cx="78638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839"/>
              </a:lnSpc>
              <a:defRPr sz="1600" b="1" i="0">
                <a:solidFill>
                  <a:srgbClr val="FFFFFF"/>
                </a:solidFill>
                <a:latin typeface="Segoe UI"/>
              </a:defRPr>
            </a:pPr>
            <a:r>
              <a:t>ISPA: Don't correct what you're not confident about.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